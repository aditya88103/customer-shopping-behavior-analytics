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Gender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EC489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 (68%)</c:v>
                </c:pt>
                <c:pt idx="1">
                  <c:v>Female (32%)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2652</c:v>
                </c:pt>
                <c:pt idx="1">
                  <c:v>1248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Age Distribution (Mean: 44)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56-70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</c:v>
                </c:pt>
                <c:pt idx="1">
                  <c:v>810</c:v>
                </c:pt>
                <c:pt idx="2">
                  <c:v>980</c:v>
                </c:pt>
                <c:pt idx="3">
                  <c:v>890</c:v>
                </c:pt>
                <c:pt idx="4">
                  <c:v>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Purchase Amount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$20-$35</c:v>
                  </c:pt>
                  <c:pt idx="1">
                    <c:v>$36-$50</c:v>
                  </c:pt>
                  <c:pt idx="2">
                    <c:v>$51-$65</c:v>
                  </c:pt>
                  <c:pt idx="3">
                    <c:v>$66-$80</c:v>
                  </c:pt>
                  <c:pt idx="4">
                    <c:v>$81-$100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680</c:v>
                </c:pt>
                <c:pt idx="1">
                  <c:v>740</c:v>
                </c:pt>
                <c:pt idx="2">
                  <c:v>800</c:v>
                </c:pt>
                <c:pt idx="3">
                  <c:v>780</c:v>
                </c:pt>
                <c:pt idx="4">
                  <c:v>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Revenue by Gender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158631</c:v>
                </c:pt>
                <c:pt idx="1">
                  <c:v>74489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Product Category Split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Purchases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E3A5F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1737</c:v>
                </c:pt>
                <c:pt idx="1">
                  <c:v>1245</c:v>
                </c:pt>
                <c:pt idx="2">
                  <c:v>599</c:v>
                </c:pt>
                <c:pt idx="3">
                  <c:v>319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Seasonal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Spring</c:v>
                  </c:pt>
                  <c:pt idx="1">
                    <c:v>Summer</c:v>
                  </c:pt>
                  <c:pt idx="2">
                    <c:v>Fall</c:v>
                  </c:pt>
                  <c:pt idx="3">
                    <c:v>Winter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60840</c:v>
                </c:pt>
                <c:pt idx="1">
                  <c:v>57950</c:v>
                </c:pt>
                <c:pt idx="2">
                  <c:v>58200</c:v>
                </c:pt>
                <c:pt idx="3">
                  <c:v>56010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Subscription Status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Non-Subscribers (73%)</c:v>
                </c:pt>
                <c:pt idx="1">
                  <c:v>Subscribers (27%)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2847</c:v>
                </c:pt>
                <c:pt idx="1">
                  <c:v>1053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Avg Spend: Sub vs Non-Sub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Non-Subscribers</c:v>
                  </c:pt>
                  <c:pt idx="1">
                    <c:v>Subscribers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57.2</c:v>
                </c:pt>
                <c:pt idx="1">
                  <c:v>65.8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Customer Segments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New
(0-5 purch.)</c:v>
                  </c:pt>
                  <c:pt idx="1">
                    <c:v>Returning
(6-20 purch.)</c:v>
                  </c:pt>
                  <c:pt idx="2">
                    <c:v>Loyal
(21+ purch.)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612</c:v>
                </c:pt>
                <c:pt idx="1">
                  <c:v>1456</c:v>
                </c:pt>
                <c:pt idx="2">
                  <c:v>1832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image" Target="../media/image-5-1.png"/><Relationship Id="rId5" Type="http://schemas.openxmlformats.org/officeDocument/2006/relationships/image" Target="../media/image-5-2.png"/><Relationship Id="rId6" Type="http://schemas.openxmlformats.org/officeDocument/2006/relationships/image" Target="../media/image-5-3.png"/><Relationship Id="rId7" Type="http://schemas.openxmlformats.org/officeDocument/2006/relationships/image" Target="../media/image-5-4.png"/><Relationship Id="rId8" Type="http://schemas.openxmlformats.org/officeDocument/2006/relationships/image" Target="../media/image-5-5.png"/><Relationship Id="rId9" Type="http://schemas.openxmlformats.org/officeDocument/2006/relationships/image" Target="../media/image-5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8288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1645920" cy="1645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74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FFFFFF"/>
                </a:solidFill>
              </a:rPr>
              <a:t>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65836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</a:rPr>
              <a:t>ANALYTICS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1051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FFFFFF"/>
                </a:solidFill>
              </a:rPr>
              <a:t>REPORT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103120"/>
            <a:ext cx="2834640" cy="411480"/>
          </a:xfrm>
          <a:prstGeom prst="roundRect">
            <a:avLst>
              <a:gd name="adj" fmla="val 15556"/>
            </a:avLst>
          </a:prstGeom>
          <a:solidFill>
            <a:srgbClr val="3D85C6"/>
          </a:solidFill>
          <a:ln w="12700">
            <a:solidFill>
              <a:srgbClr val="3D85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03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Python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2633472"/>
            <a:ext cx="2834640" cy="411480"/>
          </a:xfrm>
          <a:prstGeom prst="roundRect">
            <a:avLst>
              <a:gd name="adj" fmla="val 15556"/>
            </a:avLst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6334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PostgreSQL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" y="3163824"/>
            <a:ext cx="2834640" cy="411480"/>
          </a:xfrm>
          <a:prstGeom prst="roundRect">
            <a:avLst>
              <a:gd name="adj" fmla="val 15556"/>
            </a:avLst>
          </a:prstGeom>
          <a:solidFill>
            <a:srgbClr val="F2C811"/>
          </a:solidFill>
          <a:ln w="12700">
            <a:solidFill>
              <a:srgbClr val="F2C8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16382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BI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4592" y="3657600"/>
            <a:ext cx="13716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" y="3675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" y="39319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627632" y="3657600"/>
            <a:ext cx="137160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27632" y="3675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27632" y="39319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4592" y="4206240"/>
            <a:ext cx="13716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" y="4224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" y="44805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27632" y="4206240"/>
            <a:ext cx="137160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27632" y="4224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27632" y="44805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566160" y="5486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3566160" y="117043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Behavior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3566160" y="1792224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Report</a:t>
            </a:r>
            <a:endParaRPr lang="en-US" sz="3800" dirty="0"/>
          </a:p>
        </p:txBody>
      </p:sp>
      <p:sp>
        <p:nvSpPr>
          <p:cNvPr id="31" name="Shape 29"/>
          <p:cNvSpPr/>
          <p:nvPr/>
        </p:nvSpPr>
        <p:spPr>
          <a:xfrm>
            <a:off x="3566160" y="2542032"/>
            <a:ext cx="53035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2651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Project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66160" y="299923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PostgreSQL  •  Power BI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66160" y="34290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Aditya  •  2024  •  Academic Analytics Project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840480" y="38404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0208" y="3950208"/>
            <a:ext cx="420624" cy="420624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5074920" y="38404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3950208"/>
            <a:ext cx="420624" cy="420624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6309360" y="38404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950208"/>
            <a:ext cx="420624" cy="420624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7543800" y="384048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28" y="3950208"/>
            <a:ext cx="420624" cy="420624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3566160" y="4864608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2024 Customer Analytics Project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0" y="20116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Analytics Report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97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50292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Objectives &amp; Tools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24528" y="131673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75104"/>
            <a:ext cx="4297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975104"/>
            <a:ext cx="50292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75104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0482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Summary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414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Stats &amp; Cleaning Steps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24528" y="2286000"/>
            <a:ext cx="182880" cy="1828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44368"/>
            <a:ext cx="4297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44368"/>
            <a:ext cx="50292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94436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Charts &amp; Visual Insights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24528" y="3255264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913632"/>
            <a:ext cx="4297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913632"/>
            <a:ext cx="50292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91363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Analysis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352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Queries, Results &amp; SQL Screenshots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224528" y="4224528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005840"/>
            <a:ext cx="4297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005840"/>
            <a:ext cx="50292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0058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1078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924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Charts &amp; Slicers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705088" y="1316736"/>
            <a:ext cx="182880" cy="1828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1975104"/>
            <a:ext cx="4297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975104"/>
            <a:ext cx="502920" cy="8046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1975104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49240" y="20482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2414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 Pattern Summary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705088" y="2286000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2944368"/>
            <a:ext cx="4297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2944368"/>
            <a:ext cx="50292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94436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4924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4924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Actionable Data-Driven Strategies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705088" y="3255264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3913632"/>
            <a:ext cx="4297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913632"/>
            <a:ext cx="502920" cy="8046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391363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349240" y="3986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49240" y="43525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Outcomes &amp; Learnings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705088" y="4224528"/>
            <a:ext cx="182880" cy="18288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2011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Customer Shopping Behavior Analytics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53035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35331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businesses struggle to understand their customer base — who buys, what they buy, how often, and via which channels. Without data insight, marketing spend is inefficient and customer retention suffers.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5303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488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6060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demographic patterns (age, gender) and their purchasing influence.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8094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products, category trends and seasonal revenue patterns.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5204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3814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subscriptions, discounts &amp; payment preferences on revenue.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9776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9534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(New / Returning / Loyal) for targeted marketing.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4348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35254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decision-oriented recommendations grounded in data evidence.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960120"/>
            <a:ext cx="30175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005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Tools &amp; Technologies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52160" y="1389888"/>
            <a:ext cx="3017520" cy="8046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1389888"/>
            <a:ext cx="274320" cy="804672"/>
          </a:xfrm>
          <a:prstGeom prst="rect">
            <a:avLst/>
          </a:prstGeom>
          <a:solidFill>
            <a:srgbClr val="3D85C6"/>
          </a:solidFill>
          <a:ln w="12700">
            <a:solidFill>
              <a:srgbClr val="3D85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14538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17099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Visualization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99632" y="19110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D8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Matplotlib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52160" y="2286000"/>
            <a:ext cx="3017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2286000"/>
            <a:ext cx="274320" cy="804672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2350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99632" y="2606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9632" y="2807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 · CTEs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852160" y="3182112"/>
            <a:ext cx="3017520" cy="8046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52160" y="3182112"/>
            <a:ext cx="274320" cy="8046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3246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99632" y="3502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KPIs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99632" y="37033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· Charts · Slicers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852160" y="4078224"/>
            <a:ext cx="3017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52160" y="4078224"/>
            <a:ext cx="27432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41422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99632" y="43982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↔ DB Bridge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99632" y="4599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· df.to_sql()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DATASET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247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709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60120"/>
            <a:ext cx="27432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1247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154680" y="1709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60120"/>
            <a:ext cx="27432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1247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35040" y="1709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258568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58568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423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3.75★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74320" y="3008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2258568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258568"/>
            <a:ext cx="27432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423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68/32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154680" y="3008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M/F Gender Split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2258568"/>
            <a:ext cx="274320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258568"/>
            <a:ext cx="27432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423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035040" y="3008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547872"/>
            <a:ext cx="859536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593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Data Cleaning Steps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931920"/>
            <a:ext cx="42062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931920"/>
            <a:ext cx="1188720" cy="420624"/>
          </a:xfrm>
          <a:prstGeom prst="roundRect">
            <a:avLst>
              <a:gd name="adj" fmla="val 1087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25880" y="3931920"/>
            <a:ext cx="18288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0050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572768" y="3995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nulls in review_rating — imputed using category-wise group mean.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3931920"/>
            <a:ext cx="42062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0" y="3931920"/>
            <a:ext cx="1188720" cy="420624"/>
          </a:xfrm>
          <a:prstGeom prst="roundRect">
            <a:avLst>
              <a:gd name="adj" fmla="val 1087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0" y="3931920"/>
            <a:ext cx="18288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40050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16168" y="3995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Lowercased + underscores (e.g. 'Purchase Amount (USD)' → 'purchase_amount').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434840"/>
            <a:ext cx="42062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434840"/>
            <a:ext cx="1188720" cy="420624"/>
          </a:xfrm>
          <a:prstGeom prst="roundRect">
            <a:avLst>
              <a:gd name="adj" fmla="val 1087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25880" y="4434840"/>
            <a:ext cx="18288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5079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Drop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572768" y="44988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promo_code_used = 100% identical to discount_applied → dropped.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17720" y="4434840"/>
            <a:ext cx="42062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4434840"/>
            <a:ext cx="1188720" cy="420624"/>
          </a:xfrm>
          <a:prstGeom prst="roundRect">
            <a:avLst>
              <a:gd name="adj" fmla="val 1087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0" y="4434840"/>
            <a:ext cx="18288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450799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16168" y="44988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 via pd.qcut(q=4); purchase_frequency_days mapped from text labels.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EDA — Demographics &amp; Purchase Distribution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29260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291840" y="96012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6126480" y="96012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3"/>
          <p:cNvSpPr/>
          <p:nvPr/>
        </p:nvSpPr>
        <p:spPr>
          <a:xfrm>
            <a:off x="274320" y="3200400"/>
            <a:ext cx="85953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274320" y="3200400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291840"/>
            <a:ext cx="292608" cy="292608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47472" y="3273552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291840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2960" y="329184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are 68% of the base (2,652 vs 1,248 female) — a clear volume skew.</a:t>
            </a:r>
            <a:endParaRPr lang="en-US" sz="1050" dirty="0"/>
          </a:p>
        </p:txBody>
      </p:sp>
      <p:sp>
        <p:nvSpPr>
          <p:cNvPr id="14" name="Shape 7"/>
          <p:cNvSpPr/>
          <p:nvPr/>
        </p:nvSpPr>
        <p:spPr>
          <a:xfrm>
            <a:off x="274320" y="3794760"/>
            <a:ext cx="85953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8"/>
          <p:cNvSpPr/>
          <p:nvPr/>
        </p:nvSpPr>
        <p:spPr>
          <a:xfrm>
            <a:off x="274320" y="3794760"/>
            <a:ext cx="54864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886200"/>
            <a:ext cx="292608" cy="292608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347472" y="3867912"/>
            <a:ext cx="347472" cy="3474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" y="3886200"/>
            <a:ext cx="292608" cy="29260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22960" y="388620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near-uniform 18–70 (mean 44) — broad demographic, no strong cluster.</a:t>
            </a:r>
            <a:endParaRPr lang="en-US" sz="1050" dirty="0"/>
          </a:p>
        </p:txBody>
      </p:sp>
      <p:sp>
        <p:nvSpPr>
          <p:cNvPr id="20" name="Shape 11"/>
          <p:cNvSpPr/>
          <p:nvPr/>
        </p:nvSpPr>
        <p:spPr>
          <a:xfrm>
            <a:off x="274320" y="4389120"/>
            <a:ext cx="8595360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2"/>
          <p:cNvSpPr/>
          <p:nvPr/>
        </p:nvSpPr>
        <p:spPr>
          <a:xfrm>
            <a:off x="274320" y="4389120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4480560"/>
            <a:ext cx="292608" cy="292608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347472" y="446227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48" y="4480560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822960" y="44805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amounts are uniformly distributed $20–$100 with mean $59.76 — no price clustering.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EDA — Revenue, Categories &amp; Seasonal Trends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200400" y="960120"/>
          <a:ext cx="29260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6217920" y="960120"/>
          <a:ext cx="26517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3"/>
          <p:cNvSpPr/>
          <p:nvPr/>
        </p:nvSpPr>
        <p:spPr>
          <a:xfrm>
            <a:off x="274320" y="320040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274320" y="320040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384048" y="33375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Split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384048" y="367588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$158.6K (68%) vs Female $74.5K (32%) — volume-driven, not behavior.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3182112" y="320040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182112" y="3200400"/>
            <a:ext cx="274320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291840" y="33375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Focus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291840" y="367588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+ Accessories = 76% of purchases — core inventory priority.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089904" y="3200400"/>
            <a:ext cx="27432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089904" y="3200400"/>
            <a:ext cx="274320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199632" y="3337560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Gap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99632" y="367588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peaks at $60,840; Winter dips to $56,010 — a $4,830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EDA — Subscriptions, Payments &amp; Customer Segments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27432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200400" y="960120"/>
          <a:ext cx="27432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6126480" y="960120"/>
          <a:ext cx="27432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3"/>
          <p:cNvSpPr/>
          <p:nvPr/>
        </p:nvSpPr>
        <p:spPr>
          <a:xfrm>
            <a:off x="274320" y="3273552"/>
            <a:ext cx="2057400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274320" y="34015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438912" y="4005072"/>
            <a:ext cx="17373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74320" y="40690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274320" y="43708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1,053 active subscribers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2441448" y="3273552"/>
            <a:ext cx="2057400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2441448" y="34015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2800" dirty="0"/>
          </a:p>
        </p:txBody>
      </p:sp>
      <p:sp>
        <p:nvSpPr>
          <p:cNvPr id="15" name="Shape 10"/>
          <p:cNvSpPr/>
          <p:nvPr/>
        </p:nvSpPr>
        <p:spPr>
          <a:xfrm>
            <a:off x="2606040" y="4005072"/>
            <a:ext cx="17373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441448" y="40690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Premium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2441448" y="43708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$65.80 vs $57.20 avg spend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08576" y="3273552"/>
            <a:ext cx="20574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4608576" y="34015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2800" dirty="0"/>
          </a:p>
        </p:txBody>
      </p:sp>
      <p:sp>
        <p:nvSpPr>
          <p:cNvPr id="20" name="Shape 15"/>
          <p:cNvSpPr/>
          <p:nvPr/>
        </p:nvSpPr>
        <p:spPr>
          <a:xfrm>
            <a:off x="4773168" y="4005072"/>
            <a:ext cx="17373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608576" y="40690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608576" y="43708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1,832 with 21+ purchases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775704" y="3273552"/>
            <a:ext cx="2057400" cy="1600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775704" y="3401568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2800" dirty="0"/>
          </a:p>
        </p:txBody>
      </p:sp>
      <p:sp>
        <p:nvSpPr>
          <p:cNvPr id="25" name="Shape 20"/>
          <p:cNvSpPr/>
          <p:nvPr/>
        </p:nvSpPr>
        <p:spPr>
          <a:xfrm>
            <a:off x="6940296" y="4005072"/>
            <a:ext cx="173736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775704" y="40690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775704" y="43708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 — growth opportunity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0409"/>
          </a:solidFill>
          <a:ln w="12700">
            <a:solidFill>
              <a:srgbClr val="0104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SQL DATA ANALYSIS — Query Results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9768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42976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14984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Revenue by Gender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" y="1380744"/>
            <a:ext cx="1645920" cy="132588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417320"/>
            <a:ext cx="1536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gender, SUM(purchase_amount)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gender;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48840" y="1380744"/>
            <a:ext cx="1828800" cy="2560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85416" y="141732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099816" y="1417320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48840" y="1664208"/>
            <a:ext cx="182880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16916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99816" y="1691640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$158,631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148840" y="1920240"/>
            <a:ext cx="1828800" cy="24688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85416" y="19476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99816" y="1947672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$74,489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81728" y="960120"/>
            <a:ext cx="429768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960120"/>
            <a:ext cx="4297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014984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Top 5 Products by Rating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91456" y="1380744"/>
            <a:ext cx="1645920" cy="132588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417320"/>
            <a:ext cx="1536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item_purchased,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AVG(review_rating) AS rating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item_purchased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rating DESC LIMIT 5;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01968" y="1380744"/>
            <a:ext cx="1828800" cy="2560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8544" y="141732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552944" y="1417320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avg_rating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601968" y="1664208"/>
            <a:ext cx="182880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38544" y="16916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552944" y="1691640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1920240"/>
            <a:ext cx="1828800" cy="24688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38544" y="19476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Handbag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52944" y="1947672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01968" y="2176272"/>
            <a:ext cx="182880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38544" y="220370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552944" y="2203704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01968" y="2432304"/>
            <a:ext cx="1828800" cy="24688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245973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Backpack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552944" y="2459736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601968" y="2688336"/>
            <a:ext cx="182880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38544" y="271576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52944" y="2715768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3.79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8600" y="2971800"/>
            <a:ext cx="429768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2971800"/>
            <a:ext cx="429768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" y="3026664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Avg Purchase by Shipping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38328" y="3392424"/>
            <a:ext cx="1645920" cy="132588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" y="3429000"/>
            <a:ext cx="1536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shipping_type,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AVG(purchase_amount)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shipping_type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 DESC;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148840" y="3392424"/>
            <a:ext cx="1828800" cy="2560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85416" y="342900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shipping_type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099816" y="3429000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avg_purchase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148840" y="3675888"/>
            <a:ext cx="182880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85416" y="37033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099816" y="3703320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$62.50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148840" y="3931920"/>
            <a:ext cx="1828800" cy="24688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85416" y="395935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Day Air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099816" y="3959352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$61.30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148840" y="4187952"/>
            <a:ext cx="182880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85416" y="421538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099816" y="4215384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$60.10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148840" y="4443984"/>
            <a:ext cx="1828800" cy="24688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85416" y="447141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Ship.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099816" y="4471416"/>
            <a:ext cx="832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$58.90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81728" y="2971800"/>
            <a:ext cx="429768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81728" y="2971800"/>
            <a:ext cx="42976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91456" y="3026664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Subscriber vs Non-Subscriber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791456" y="3392424"/>
            <a:ext cx="1645920" cy="132588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46320" y="3429000"/>
            <a:ext cx="15361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subscription_status,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AVG(purchase_amount) AS avg,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SUM(purchase_amount) AS total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subscription_status;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601968" y="3392424"/>
            <a:ext cx="2194560" cy="256032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38544" y="3429000"/>
            <a:ext cx="740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415784" y="342900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055864" y="342900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601968" y="3675888"/>
            <a:ext cx="2194560" cy="2468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38544" y="3703320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415784" y="3703320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$65.80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8055864" y="370332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$69,287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601968" y="3931920"/>
            <a:ext cx="2194560" cy="24688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638544" y="3959352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415784" y="3959352"/>
            <a:ext cx="603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$57.20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055864" y="3959352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$162,858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10409"/>
          </a:solidFill>
          <a:ln w="12700">
            <a:solidFill>
              <a:srgbClr val="0104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SQL — Advanced Queries (CTEs &amp; Window Functions)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11480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 Customer Segmentation (CASE WHEN)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389888"/>
            <a:ext cx="3840480" cy="150876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26464"/>
            <a:ext cx="37490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previous_purchases &lt;= 5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'New'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previous_purchases &lt;= 20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THEN 'Returning'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'Loyal'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segment,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COUNT(*) AS count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segment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count DESC;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2999232"/>
            <a:ext cx="3840480" cy="4754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999232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108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108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547872"/>
            <a:ext cx="3840480" cy="47548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547872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657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3657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37.3%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096512"/>
            <a:ext cx="3840480" cy="47548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096512"/>
            <a:ext cx="54864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206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1,832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4206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960120"/>
            <a:ext cx="42062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02412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 Top 3 per Category — RANK() OVER PARTITION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1389888"/>
            <a:ext cx="3931920" cy="150876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1426464"/>
            <a:ext cx="3840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ranked AS (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category, item_purchased,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COUNT(*) AS cnt,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RANK() OVER (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PARTITION BY category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 BY COUNT(*) DESC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AS rnk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customer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category, item_purchased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79C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ranked WHERE rnk &lt;= 3;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00600" y="2971800"/>
            <a:ext cx="3931920" cy="274320"/>
          </a:xfrm>
          <a:prstGeom prst="rect">
            <a:avLst/>
          </a:prstGeom>
          <a:solidFill>
            <a:srgbClr val="21262D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017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080760" y="3017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498080" y="3017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3255264"/>
            <a:ext cx="3931920" cy="201168"/>
          </a:xfrm>
          <a:prstGeom prst="rect">
            <a:avLst/>
          </a:prstGeom>
          <a:solidFill>
            <a:srgbClr val="161B22"/>
          </a:solidFill>
          <a:ln w="254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2735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80760" y="32735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Blouse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98080" y="32735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0600" y="3456432"/>
            <a:ext cx="3931920" cy="201168"/>
          </a:xfrm>
          <a:prstGeom prst="rect">
            <a:avLst/>
          </a:prstGeom>
          <a:solidFill>
            <a:srgbClr val="1C2128"/>
          </a:solidFill>
          <a:ln w="254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4747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080760" y="34747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498080" y="34747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00600" y="3657600"/>
            <a:ext cx="3931920" cy="201168"/>
          </a:xfrm>
          <a:prstGeom prst="rect">
            <a:avLst/>
          </a:prstGeom>
          <a:solidFill>
            <a:srgbClr val="161B22"/>
          </a:solidFill>
          <a:ln w="254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67588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080760" y="36758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498080" y="36758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00600" y="3858768"/>
            <a:ext cx="3931920" cy="201168"/>
          </a:xfrm>
          <a:prstGeom prst="rect">
            <a:avLst/>
          </a:prstGeom>
          <a:solidFill>
            <a:srgbClr val="1C2128"/>
          </a:solidFill>
          <a:ln w="254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87705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080760" y="38770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498080" y="387705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00600" y="4059936"/>
            <a:ext cx="3931920" cy="201168"/>
          </a:xfrm>
          <a:prstGeom prst="rect">
            <a:avLst/>
          </a:prstGeom>
          <a:solidFill>
            <a:srgbClr val="161B22"/>
          </a:solidFill>
          <a:ln w="254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40782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080760" y="40782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98080" y="407822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00600" y="4261104"/>
            <a:ext cx="3931920" cy="201168"/>
          </a:xfrm>
          <a:prstGeom prst="rect">
            <a:avLst/>
          </a:prstGeom>
          <a:solidFill>
            <a:srgbClr val="1C2128"/>
          </a:solidFill>
          <a:ln w="254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427939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080760" y="42793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498080" y="42793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800600" y="4462272"/>
            <a:ext cx="3931920" cy="201168"/>
          </a:xfrm>
          <a:prstGeom prst="rect">
            <a:avLst/>
          </a:prstGeom>
          <a:solidFill>
            <a:srgbClr val="161B22"/>
          </a:solidFill>
          <a:ln w="254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4480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080760" y="44805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498080" y="448056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800600" y="4663440"/>
            <a:ext cx="3931920" cy="201168"/>
          </a:xfrm>
          <a:prstGeom prst="rect">
            <a:avLst/>
          </a:prstGeom>
          <a:solidFill>
            <a:srgbClr val="1C2128"/>
          </a:solidFill>
          <a:ln w="254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46817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080760" y="46817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498080" y="46817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POWER BI DASHBOARD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256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 Page  •  18 Visuals  •  4 Slicers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6002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600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960120"/>
            <a:ext cx="16002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11680" y="960120"/>
            <a:ext cx="160020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097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11680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960120"/>
            <a:ext cx="16002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49040" y="960120"/>
            <a:ext cx="1600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097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 / 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49040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960120"/>
            <a:ext cx="16002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960120"/>
            <a:ext cx="160020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097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$233,120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86400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960120"/>
            <a:ext cx="16002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23760" y="960120"/>
            <a:ext cx="1600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10972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223760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176272"/>
            <a:ext cx="502920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2219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Dashboard Visual Inventory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560320"/>
            <a:ext cx="50292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560320"/>
            <a:ext cx="54864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6060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(×3)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11680" y="2606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· Avg Purchase · Avg Rating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907792"/>
            <a:ext cx="5029200" cy="31089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907792"/>
            <a:ext cx="54864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9535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11680" y="29535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by Subscription Status (73/27 split)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255264"/>
            <a:ext cx="50292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255264"/>
            <a:ext cx="54864" cy="3108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3009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11680" y="330098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($104K Clothing)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602736"/>
            <a:ext cx="5029200" cy="31089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602736"/>
            <a:ext cx="54864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6484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11680" y="36484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 by Category (1,737 Clothing)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950208"/>
            <a:ext cx="50292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" y="3950208"/>
            <a:ext cx="54864" cy="31089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9959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011680" y="3995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 (Adult peaks $61.8K)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297680"/>
            <a:ext cx="5029200" cy="31089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4297680"/>
            <a:ext cx="54864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43434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11680" y="43434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 by Age Group (1,020 Adult)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4645152"/>
            <a:ext cx="5029200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" y="4645152"/>
            <a:ext cx="54864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4690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(×4)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011680" y="46908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· Gender · Category · Shipping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532120" y="2176272"/>
            <a:ext cx="3337560" cy="2688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2286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623560" y="2697480"/>
            <a:ext cx="315468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15000" y="27340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Revenue %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715000" y="29169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29.7%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315200" y="291693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27% customer share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623560" y="3200400"/>
            <a:ext cx="315468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15000" y="32369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715000" y="34198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42.8%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315200" y="34198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half of txns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623560" y="3703320"/>
            <a:ext cx="315468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15000" y="37398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715000" y="39227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315200" y="39227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$104.2K — 44.7%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623560" y="4206240"/>
            <a:ext cx="315468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715000" y="4242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Spend Age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715000" y="442569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31-44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315200" y="44256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$61.8K revenue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623560" y="4709160"/>
            <a:ext cx="3154680" cy="420624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15000" y="47457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715000" y="492861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3.75/5.0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7315200" y="49286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positive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74320" y="4919472"/>
            <a:ext cx="859536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KEY INSIGHTS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1645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247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987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993392" y="107899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31136" y="101498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customers (68%) dominate volume; female spend per-capita is equal — purely a volume gap.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93392" y="14264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31136" y="136245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uniformly distributed 18–70 (mean 44) — broad market appeal confirmed.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1783080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1783080"/>
            <a:ext cx="164592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94767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" y="18105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CATEGORIES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1993392" y="1901952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231136" y="183794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+ Accessories = 76% of all purchases — core revenue backbone.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1993392" y="2249424"/>
            <a:ext cx="164592" cy="16459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231136" y="218541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items are tightly clustered (148–171 sales) — no single hero product.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74320" y="2606040"/>
            <a:ext cx="859536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74320" y="2606040"/>
            <a:ext cx="1645920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770632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20040" y="2633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DISCOUNTING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1993392" y="272491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231136" y="266090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823 customers used discounts and still spent above $59.76 — targeted discounts are profitable.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1993392" y="307238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231136" y="300837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42.8% discount utilisation is high; surgical targeting would improve margins.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274320" y="3429000"/>
            <a:ext cx="8595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74320" y="3429000"/>
            <a:ext cx="1645920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593592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20040" y="34564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&amp; LOYALTY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1993392" y="354787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231136" y="348386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pay 15% more per transaction ($65.80 vs $57.20) — high-ROI programme.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1993392" y="389534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2231136" y="383133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are Loyal customers (21+ purchases) — strong retention backbone exists.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274320" y="4251960"/>
            <a:ext cx="859536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274320" y="4251960"/>
            <a:ext cx="16459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416552"/>
            <a:ext cx="347472" cy="34747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20040" y="42793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&amp; PAYMENTS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1993392" y="437083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2231136" y="430682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users average $62.50 vs $58.90 Free Shipping — premium buyers choose speed.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1993392" y="4718304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2231136" y="465429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payment methods share ~16% each — multi-channel infrastructure well-utilised.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BUSINESS RECOMMENDATIONS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33272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33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8952" y="1051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Subscription Programme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554480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0D9488">
              <a:alpha val="15000"/>
            </a:srgbClr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Impact: +$22K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18745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Subscribers spend 15% more ($65.80 vs $57.20).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229514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Launch 'first-month-free' campaigns via email &amp; in-app.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27248" y="960120"/>
            <a:ext cx="27432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27248" y="960120"/>
            <a:ext cx="2743200" cy="5029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1033272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18688" y="1033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1051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 Acquisition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18688" y="1554480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EC4899">
              <a:alpha val="15000"/>
            </a:srgbClr>
          </a:solidFill>
          <a:ln w="889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C4899"/>
                </a:solidFill>
              </a:rPr>
              <a:t>Impact: +$45K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36976" y="18745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Female customers have equal per-transaction spend to males.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36976" y="229514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Gender-targeted campaigns on Instagram &amp; Pinterest.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25896" y="960120"/>
            <a:ext cx="27432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25896" y="960120"/>
            <a:ext cx="274320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17336" y="1033272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1033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56248" y="1051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Promotions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17336" y="1554480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EA580C">
              <a:alpha val="15000"/>
            </a:srgbClr>
          </a:solidFill>
          <a:ln w="889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17336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Impact: +$2.4K/season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35624" y="187452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Winter lags Spring by $4,830 — widest seasonal gap.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35624" y="229514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Holiday campaigns Nov–Jan for Outerwear, Coats, Gloves.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2971800"/>
            <a:ext cx="27432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2971800"/>
            <a:ext cx="27432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044952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8952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 Programme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3566160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1E3A5F">
              <a:alpha val="15000"/>
            </a:srgbClr>
          </a:solidFill>
          <a:ln w="889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566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</a:rPr>
              <a:t>Impact: High LTV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8328" y="38862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47% of customers are Loyal (21+ purchases).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8328" y="430682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Silver / Gold / Platinum tiers with exclusive perks.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27248" y="2971800"/>
            <a:ext cx="27432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27248" y="2971800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18688" y="3044952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18688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65760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Discount Strategy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18688" y="3566160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7C3AED">
              <a:alpha val="15000"/>
            </a:srgbClr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18688" y="3566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Impact: Margin +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36976" y="38862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42.8% discount rate — unsustainably broad.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236976" y="430682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Target seasonal items only; add min-spend thresholds.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25896" y="2971800"/>
            <a:ext cx="27432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025896" y="2971800"/>
            <a:ext cx="27432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17336" y="3044952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17336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56248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Shipping Incentives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117336" y="3566160"/>
            <a:ext cx="2560320" cy="256032"/>
          </a:xfrm>
          <a:prstGeom prst="roundRect">
            <a:avLst>
              <a:gd name="adj" fmla="val 17857"/>
            </a:avLst>
          </a:prstGeom>
          <a:solidFill>
            <a:srgbClr val="16A34A">
              <a:alpha val="15000"/>
            </a:srgbClr>
          </a:solidFill>
          <a:ln w="889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17336" y="3566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Impact: +Basket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135624" y="388620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Express users average $62.50 vs $58.90 Free Shipping.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135624" y="430682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Express upgrade on orders above $80; Free Ship at $60+.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114800" cy="4114800"/>
          </a:xfrm>
          <a:prstGeom prst="ellipse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CONCLUSION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200400" y="1298448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17320"/>
            <a:ext cx="502920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630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502920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810512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4708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cleaning needed — only 37 missing values imputed, confirming high data quality.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249424"/>
            <a:ext cx="5029200" cy="384048"/>
          </a:xfrm>
          <a:prstGeom prst="rect">
            <a:avLst/>
          </a:prstGeom>
          <a:solidFill>
            <a:srgbClr val="16213E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49424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86000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acquisition is a pure growth lever — equal spend per-capita, just lower volume.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688336"/>
            <a:ext cx="502920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688336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24912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programme demonstrates 15% spend premium — strongest single ROI lever.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27248"/>
            <a:ext cx="5029200" cy="384048"/>
          </a:xfrm>
          <a:prstGeom prst="rect">
            <a:avLst/>
          </a:prstGeom>
          <a:solidFill>
            <a:srgbClr val="16213E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127248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6382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loyal customers form a strong retention backbone; 16% new means acquisition gap.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502920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566160"/>
            <a:ext cx="5486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602736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penetration (42.8%) is high — surgical targeting would improve margin significantly.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1417320"/>
            <a:ext cx="329184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14630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0" y="1810512"/>
            <a:ext cx="329184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1810512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184708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87568" y="20116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imputation · Column normalisation · Dedup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77840" y="2240280"/>
            <a:ext cx="3291840" cy="384048"/>
          </a:xfrm>
          <a:prstGeom prst="rect">
            <a:avLst/>
          </a:prstGeom>
          <a:solidFill>
            <a:srgbClr val="16213E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0" y="2240280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2276856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87568" y="24414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pd.qcut() binning · Frequency-to-days mapping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77840" y="2670048"/>
            <a:ext cx="329184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7840" y="2670048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2706624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87568" y="28712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· CASE WHEN · RANK() OVER PARTITION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577840" y="3099816"/>
            <a:ext cx="3291840" cy="384048"/>
          </a:xfrm>
          <a:prstGeom prst="rect">
            <a:avLst/>
          </a:prstGeom>
          <a:solidFill>
            <a:srgbClr val="16213E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77840" y="3099816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313639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87568" y="330098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· Bar · Donut · Horizontal bars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77840" y="3529584"/>
            <a:ext cx="3291840" cy="384048"/>
          </a:xfrm>
          <a:prstGeom prst="rect">
            <a:avLst/>
          </a:prstGeom>
          <a:solidFill>
            <a:srgbClr val="1E293B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77840" y="3529584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87568" y="3566160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87568" y="37307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· Charts · Interactive slicers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577840" y="3959352"/>
            <a:ext cx="3291840" cy="384048"/>
          </a:xfrm>
          <a:prstGeom prst="rect">
            <a:avLst/>
          </a:prstGeom>
          <a:solidFill>
            <a:srgbClr val="16213E"/>
          </a:solidFill>
          <a:ln w="3810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77840" y="3959352"/>
            <a:ext cx="54864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3995928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687568" y="41605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→ actionable business recommendations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74320" y="497433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Aditya   •   Python | PostgreSQL | Power BI   •   2024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Analytics Report</dc:title>
  <dc:subject>PptxGenJS Presentation</dc:subject>
  <dc:creator>PptxGenJS</dc:creator>
  <cp:lastModifiedBy>PptxGenJS</cp:lastModifiedBy>
  <cp:revision>1</cp:revision>
  <dcterms:created xsi:type="dcterms:W3CDTF">2026-03-19T10:15:23Z</dcterms:created>
  <dcterms:modified xsi:type="dcterms:W3CDTF">2026-03-19T10:15:23Z</dcterms:modified>
</cp:coreProperties>
</file>